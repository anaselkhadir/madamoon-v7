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CAHIER DES CHARGES  ·  ÉDITION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800" b="0" spc="-531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ANVSLAB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71800"/>
            <a:ext cx="1051560" cy="381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0" spc="-93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Accompagnement digital</a:t>
            </a:r>
          </a:p>
          <a:p>
            <a:pPr algn="l">
              <a:lnSpc>
                <a:spcPct val="116000"/>
              </a:lnSpc>
            </a:pPr>
            <a:r>
              <a:rPr sz="3100" b="0" spc="-93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des petites et moyennes entreprises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Périmètre des prestations, niveaux de service, formules et engagements.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Document de référence contractuel.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833872"/>
            <a:ext cx="10637215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CASABLANCA  ·  MAROC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575" y="603504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FF2D00"/>
                </a:solidFill>
                <a:latin typeface="Menlo"/>
                <a:cs typeface="Menlo"/>
                <a:ea typeface="Menlo"/>
              </a:rPr>
              <a:t>ANVSLAB.COM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À PROPOS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Comment lire ce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 cahier des charges décrit l'intégralité de ce qu'ANVSLAB conçoit, livre et maintient. Il sert de référence commune pendant toute la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détail de chaque module de prestation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niveaux de service et leur contenu exact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33793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formules et ce qu'elles couvrent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7042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66127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durées d'accompagnement incluses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9376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984619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engagements de chaque partie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138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qu'il n'est pas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devis : le prix dépend de la formule retenue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planning : il est établi après l'audit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43379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Une liste d'options à cocher une par 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8748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86574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document figé : il évolue avec votre activité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3036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Comment il s'utilise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3036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0780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À la signature, il devient l'annexe technique du contrat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780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Pendant la mission, il sert de référence de périmètre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80" y="43379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À la livraison, il sert de grille de recette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48748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486574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Toute évolution fait l'objet d'un avenant écrit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0" spc="-416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spc="-189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Pourquoi la majorité des PME reste invisible en ligne.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 CONSTAT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spc="-14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Une entreprise peut être excellente</a:t>
            </a:r>
          </a:p>
          <a:p>
            <a:pPr algn="l">
              <a:lnSpc>
                <a:spcPct val="110000"/>
              </a:lnSpc>
            </a:pPr>
            <a:r>
              <a:rPr sz="4200" b="0" spc="-14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et rester introuvable.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7863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qualité du travail ne se transmet plus par le bouche-à-oreille seul. Elle se vérifie en ligne, en quelques secondes, avant même le premier contact. Une PME sans présence structurée n'est pas jugée médiocre : elle n'est simplement jamais comparée.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63270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3387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44">
                <a:solidFill>
                  <a:srgbClr val="9A9A9A"/>
                </a:solidFill>
                <a:latin typeface="Menlo"/>
                <a:cs typeface="Menlo"/>
                <a:ea typeface="Menlo"/>
              </a:rPr>
              <a:t>Le sujet n'est pas d'avoir un site. Le sujet est d'être trouvé, compris, puis contacté.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 CONSTAT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Quatre situations que nous rencontrons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Aucune n'est une question de budget. Toutes sont une question de méthode.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23160"/>
            <a:ext cx="2508427" cy="3246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73405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SITUATION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11810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Le site vitrine dormant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904488"/>
            <a:ext cx="188663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site existe, il est joli, il ne rapporte rien. Personne ne le trouve car aucune page ne répond à une recherche réelle.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6835" y="2423160"/>
            <a:ext cx="2508427" cy="3246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7731" y="273405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SITUATION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7731" y="311810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La dépendance aux plateformes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7731" y="3904488"/>
            <a:ext cx="188663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Toute l'activité passe par un intermédiaire qui prend sa commission et détient la relation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0" y="2423160"/>
            <a:ext cx="2508427" cy="3246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6" y="273405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SITUATION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6" y="311810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Le trafic sans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6" y="3904488"/>
            <a:ext cx="188663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Des visiteurs arrivent, lisent, repartent. Rien dans le parcours ne les amène à demander un rendez-vous.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025" y="2423160"/>
            <a:ext cx="2508427" cy="3246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6921" y="273405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SITUATION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6921" y="311810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L'absence de mesure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921" y="3904488"/>
            <a:ext cx="188663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Aucun chiffre ne circule. Impossible de savoir ce qui fonctionne, donc impossible de décider.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 CONSTAT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qui a changé en dix-huit mois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recherche ne se limite plus à une liste de liens bleus.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La recherche est devenue conversationnelle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01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190875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Une part croissante des recherches se termine par une réponse générée, sans clic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278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718686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assistants citent quelques sources et ignorent les autres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511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042027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Être bien classé ne suffit plus : il faut être citable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45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36536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contenus vagues ne sont jamais repris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1587" y="2651760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1587" y="279806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que cela implique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20001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9331" y="3190875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Structurer l'information pour qu'une machine puisse l'extraire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52336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9331" y="3514216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Affirmer des faits vérifiables plutôt que des formules commerciales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1587" y="40511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9331" y="4042027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Déclarer l'entreprise dans les sources que les modèles consultent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1587" y="457898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9331" y="456983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Mesurer la citation, pas seulement la position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0" spc="-416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spc="-189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La 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Quatre étapes, aucune surprise, une validation à chaque palier.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LA MÉTHODE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Le déroulement d'une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508427" cy="3566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41401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79806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Planifiez votre appel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584448"/>
            <a:ext cx="1886635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échange direct et honnête. On découvre votre activité, vos objectifs, et là où la valeur se crée le plus vite.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835" y="2103120"/>
            <a:ext cx="2508427" cy="3566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7731" y="241401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7731" y="279806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Choisissez votre formule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7731" y="3584448"/>
            <a:ext cx="1886635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Une formule claire, un prix exact, un calendrier. Rien ne démarre avant votre validation écrite.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0" y="2103120"/>
            <a:ext cx="2508427" cy="3566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6" y="241401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6" y="279806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On construit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6" y="3584448"/>
            <a:ext cx="1886635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2 à 6 semaines selon le périmètre. Votre site actuel reste en ligne, votre activité continue, vous validez chaque étape.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06025" y="2103120"/>
            <a:ext cx="2508427" cy="3566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6921" y="2414016"/>
            <a:ext cx="18866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6921" y="2798064"/>
            <a:ext cx="18866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On reste à bord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6921" y="3584448"/>
            <a:ext cx="1886635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Support technique 12 mois et accompagnement organique 6 mois inclus. L'avance prise ne se referme pas seule.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LA MÉTHODE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Le calendrier de l'accompagnement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 qui court, pendant combien de temps, et ce qui prend le relais.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1995769" cy="24871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3026664"/>
            <a:ext cx="1520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SEMAINE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374136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spc="-38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Cadrage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4270248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Audit, arbitrages,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validation du périmètre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7601" y="2788920"/>
            <a:ext cx="1995769" cy="24871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5345" y="3026664"/>
            <a:ext cx="1520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SEMAINES 1 À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345" y="3374136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spc="-38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345" y="4270248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Conception, rédaction,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développement, recette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7962" y="2788920"/>
            <a:ext cx="1995769" cy="2487168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5706" y="3026664"/>
            <a:ext cx="1520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FF2D00"/>
                </a:solidFill>
                <a:latin typeface="Menlo"/>
                <a:cs typeface="Menlo"/>
                <a:ea typeface="Menlo"/>
              </a:rPr>
              <a:t>MOIS 1 À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5706" y="3374136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spc="-38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Accompagnement organique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5706" y="4270248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Suivi des positions,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optimisation, rapports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58323" y="2788920"/>
            <a:ext cx="1995769" cy="24871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6067" y="3026664"/>
            <a:ext cx="1520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MOIS 1 À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6067" y="3374136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spc="-38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Support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6067" y="4270248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Disponibilité, sécurité,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maintenance, assistance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684" y="2788920"/>
            <a:ext cx="199576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428" y="3026664"/>
            <a:ext cx="15202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MOIS 7 ET AU-DELÀ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428" y="3374136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spc="-38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Abonnement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428" y="4270248"/>
            <a:ext cx="152028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Poursuite volontaire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de la progression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support technique et l'accompagnement organique sont deux prestations distinctes. Le premier garantit que le site fonctionne. Le second fait progresser sa visibilité.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0" spc="-416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spc="-189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Les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Neuf domaines de prestation, déclinés en niveaux de 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Chaque module existe en plusieurs niveaux. Le niveau appliqué dépend de la formule retenue.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06624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Identité et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044952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Direction artistique, système de design, maquettes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0034" y="2606040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0034" y="27340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2706624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Site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4082" y="3044952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Développement, performance, accessibilité, hébergement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2828" y="2606040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2828" y="27340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876" y="2706624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Contenus et rédaction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3044952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Architecture éditoriale, pages, textes de conversion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13048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4106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913632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naturel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2519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Technique, sémantique, local, autorité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0034" y="3813048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0034" y="394106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4082" y="3913632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génératif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4082" y="42519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Visibilité et citation dans les moteurs à réponse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2828" y="3813048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2828" y="3941064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6876" y="3913632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ANVSLAB Social Suite™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6876" y="42519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Conversations, publication et automatisation sociale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20056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480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5120640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Automatisations e-mail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458968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Séquences, notifications, relances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90034" y="5020056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034" y="51480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4082" y="5120640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Statistiques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4082" y="5458968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Mesure, rapports, tableau de bord décisionnel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2828" y="5020056"/>
            <a:ext cx="3411626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2828" y="51480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95">
                <a:solidFill>
                  <a:srgbClr val="FF2D00"/>
                </a:solidFill>
                <a:latin typeface="Menlo"/>
                <a:cs typeface="Menlo"/>
                <a:ea typeface="Menlo"/>
              </a:rPr>
              <a:t>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6876" y="5120640"/>
            <a:ext cx="302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spc="-3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Publicité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6876" y="5458968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Campagnes d'acquisition et budget alloué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Identité et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 que votre entreprise donne à voir avant qu'on lise la première ligne.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Cohérence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Normalisation du logo existant et déclinaisons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611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736974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Palette de couleurs et contrastes accessibles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7392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26478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Hiérarchie typographique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97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58812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Bibliothèque de composants d'interface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06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91146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Traitement photographique homogène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Distinction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Direction artistique propre au secteur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Système de design documenté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385584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Iconographie et illustrations sur mesure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3928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38365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Maquettes haute fidélité de toutes les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9206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91146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Animations et micro-interactions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780" y="320916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Refonte complète de l'identité de marque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374611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80" y="373697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Charte graphique livrée en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4060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Déclinaisons hors ligne : enseigne, véhicule, imprimés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4597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458812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Modèles de documents commerciaux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49206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491146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Gabarits pour les réseaux sociaux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Les niveaux sont cumulatifs : le niveau 3 comprend l'intégralité des niveaux 1 et 2.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B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Site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site rapide, lisible sur tout appareil, conçu pour amener au rendez-vous.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Fondation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Site sur mesure, sans modèle générique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Adaptation mobile, tablette et ordinateur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06031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Temps de chargement optimisé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928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38365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Formulaire de contact protégé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1614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70699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Nom de domaine et hébergement configurés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4395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523480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Certificat de sécurité et conformité RGPD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Page de prise de rendez-vous dédiée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Parcours pensé par intention de visite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Pages de service et pages de 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Intégration des avis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0138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7882" y="450252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Espace d'administration des contenus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0138" y="48350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7882" y="482586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Accessibilité renforcée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Différenciation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Animations et interactions avancées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Configurateur ou simulateur métier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Espace client ou suivi de commande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0780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Version multilingue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3036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0780" y="450252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Architecture prévue pour la montée en charge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3036" y="503948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0780" y="503033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Tests automatisés avant chaque mise en ligne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 code et les contenus restent votre propriété pleine et entière, sans dépendance à ANVSLAB.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C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Contenus et 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textes qui font la différence entre une visite et une demande de rendez-vous.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Clarté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Architecture des pages et des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Rédaction des pages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85584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Proposition de valeur formulée en une phrase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928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38365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Appels à l'action explicites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1614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70699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Relecture orthographique et typographique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Persuasion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20916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Rédaction orientée intention de recherche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74611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73697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Pages de service détaillées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406031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Réponses aux objections courantes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3928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38365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Foire aux questions structurée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71614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70699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Preuves : chiffres, réalisations, témoignages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0138" y="524395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7882" y="523480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Variantes de titres testables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Autorité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80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Programme éditorial planifié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Contenus de fond destinés à être cités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Études de cas documentées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Déclinaison pour les réseaux sociaux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0780" y="450252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Ligne éditoriale écrite et transmissible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naturel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Être trouvé par les personnes qui cherchent déjà ce que vous faites.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Socle technique</a:t>
            </a:r>
          </a:p>
        </p:txBody>
      </p:sp>
      <p:pic>
        <p:nvPicPr>
          <p:cNvPr id="10" name="Picture 9" descr="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307"/>
            <a:ext cx="210312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58406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57492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Audit de l'existant et relevé de référence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187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10273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Indexation, plan de site,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521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442607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Balises titres et descriptions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856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474941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Données structurées de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8190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507275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Fiche Google Business optimisée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0524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539609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Recherche des mots-clés prioritaires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Sémantique et local</a:t>
            </a:r>
          </a:p>
        </p:txBody>
      </p:sp>
      <p:pic>
        <p:nvPicPr>
          <p:cNvPr id="25" name="Picture 24" descr="google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3218307"/>
            <a:ext cx="210312" cy="2103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60138" y="358406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357492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Cartographie complète des intentions de recherche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11187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10273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Pages dédiées par service et par 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43521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42607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Maillage interne construit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0138" y="475856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7882" y="474941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Optimisation des images et des performances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0138" y="52863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7882" y="527722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Suivi des positions et des concurrents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0138" y="56097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7882" y="560056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Stratégie d'avis clients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Autorité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358406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357492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Programme de contenus sur douze mois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390740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3898264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Recherche de citations et de liens entrants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443521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0780" y="442607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Analyse des écarts face aux concurrents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3036" y="475856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0780" y="474941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Optimisation continue par les données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3036" y="508190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0780" y="507275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Extension à de nouvelles zones et gammes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 détail exhaustif du module figure dans l'annexe SEO. Aucun engagement de position n'est pris : voir la section Engagements.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génératif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Être cité par les assistants qui répondent désormais à la place des moteurs.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Lisibilité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Autorisation d'accès aux robots des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Fichier de description du site pour les modèles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060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Données structurées entreprise et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97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588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Faits vérifiables affirmés dans les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5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511593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Cohérence des informations sur le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Citabilité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Contenus formatés pour l'extraction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532504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Réponses directes aux questions du secteur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4060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Sondes de citation sur les principaux assistants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597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58812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Présence dans les sources de référence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9206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91146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Suivi mensuel du taux de citation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Part de voix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780" y="320916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Mesure de la part de voix face aux concurrents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374611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80" y="373697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Correction des informations erronées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4060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Contenus conçus pour être repris textuellement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4597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4588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Veille sur l'évolution des moteurs à réponse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5125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511593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Extension aux assistants émergents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Annexe détaillée : 83 prestations réparties sur les trois niveaux.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ANVSLAB Social Suite™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Vos conversations, vos publications et vos automatisations sociales dans un seul outil, au lieu de trois abonnements séparés à gérer et à payer.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3411626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300837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PILIER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39242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4178808"/>
            <a:ext cx="278983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Toutes vos messageries dans une seule boîte de réception : site, WhatsApp, Instagram, Facebook, Messenger. Un seul endroit, un seul historique, un seul identifiant.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0034" y="2697480"/>
            <a:ext cx="3411626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930" y="300837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PILIER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930" y="339242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Publication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4178808"/>
            <a:ext cx="278983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calendrier éditorial unique. Vous préparez, vous programmez, la Suite publie sur chaque réseau au bon moment, sans que vous ayez à y retourner.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2828" y="2697480"/>
            <a:ext cx="3411626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300837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PILIER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339242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Automatisation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724" y="4178808"/>
            <a:ext cx="278983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Réponses aux commentaires, messages privés déclenchés par mots-clés, relances et scénarios conversationnels qui tournent sans intervention.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Plateforme incluse douze mois dans les trois formules. Vous n'avez aucun abonnement tiers à souscrire, à paramétrer ni à renouveler : tout est fourni et maintenu par ANVSLAB.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ANVSLAB Social Suite™ — les niveaux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 que la plateforme couvre selon la formule retenue.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Conversations unifiées</a:t>
            </a:r>
          </a:p>
        </p:txBody>
      </p:sp>
      <p:pic>
        <p:nvPicPr>
          <p:cNvPr id="10" name="Picture 9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307"/>
            <a:ext cx="210312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58406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57492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Boîte de réception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0740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389826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Site et WhatsApp au même endroit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3074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422160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Assistant entraîné sur votre activité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409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454494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Prise de coordonnées et de rendez-vous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7743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486828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Transfert vers un humain à tout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007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519162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Historique complet consultable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Publication et engagement</a:t>
            </a:r>
          </a:p>
        </p:txBody>
      </p:sp>
      <p:pic>
        <p:nvPicPr>
          <p:cNvPr id="25" name="Picture 24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3437382"/>
            <a:ext cx="210312" cy="210312"/>
          </a:xfrm>
          <a:prstGeom prst="rect">
            <a:avLst/>
          </a:prstGeom>
        </p:spPr>
      </p:pic>
      <p:pic>
        <p:nvPicPr>
          <p:cNvPr id="26" name="Picture 25" descr="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322" y="3437382"/>
            <a:ext cx="210312" cy="210312"/>
          </a:xfrm>
          <a:prstGeom prst="rect">
            <a:avLst/>
          </a:prstGeom>
        </p:spPr>
      </p:pic>
      <p:pic>
        <p:nvPicPr>
          <p:cNvPr id="27" name="Picture 26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506" y="3437382"/>
            <a:ext cx="210312" cy="210312"/>
          </a:xfrm>
          <a:prstGeom prst="rect">
            <a:avLst/>
          </a:prstGeom>
        </p:spPr>
      </p:pic>
      <p:pic>
        <p:nvPicPr>
          <p:cNvPr id="28" name="Picture 27" descr="messe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690" y="3437382"/>
            <a:ext cx="210312" cy="2103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60138" y="380314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7882" y="379399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Instagram, Facebook, Messenger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0138" y="412648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7882" y="4117339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Calendrier éditorial et programmation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0138" y="444982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7882" y="4440680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Publication sur plusieurs réseaux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0138" y="4773165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7882" y="4764021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Réponses automatiques aux commentaires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0138" y="5096506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7882" y="5087362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Mots-clés déclencheurs en privé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0138" y="541984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7882" y="541070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Statistiques d'engagement par réseau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Automatisation avancée</a:t>
            </a:r>
          </a:p>
        </p:txBody>
      </p:sp>
      <p:pic>
        <p:nvPicPr>
          <p:cNvPr id="43" name="Picture 42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036" y="3218307"/>
            <a:ext cx="210312" cy="210312"/>
          </a:xfrm>
          <a:prstGeom prst="rect">
            <a:avLst/>
          </a:prstGeom>
        </p:spPr>
      </p:pic>
      <p:pic>
        <p:nvPicPr>
          <p:cNvPr id="44" name="Picture 43" descr="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20" y="3218307"/>
            <a:ext cx="210312" cy="210312"/>
          </a:xfrm>
          <a:prstGeom prst="rect">
            <a:avLst/>
          </a:prstGeom>
        </p:spPr>
      </p:pic>
      <p:pic>
        <p:nvPicPr>
          <p:cNvPr id="45" name="Picture 44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404" y="3218307"/>
            <a:ext cx="210312" cy="210312"/>
          </a:xfrm>
          <a:prstGeom prst="rect">
            <a:avLst/>
          </a:prstGeom>
        </p:spPr>
      </p:pic>
      <p:pic>
        <p:nvPicPr>
          <p:cNvPr id="46" name="Picture 45" descr="messe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588" y="3218307"/>
            <a:ext cx="210312" cy="21031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143036" y="358406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0780" y="357492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Scénarios conversationnels multi-étapes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3036" y="390740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0780" y="389826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Qualification et routage automatique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43036" y="423074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0780" y="422160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Relance des conversations sans réponse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43036" y="455409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0780" y="454494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Tests A/B des messages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3036" y="487743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0780" y="486828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Segmentation de l'audience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3036" y="520077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0780" y="519162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Plusieurs utilisateurs et rôles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Les données de la Suite alimentent directement le tableau de bord du module Statistiques : volume de conversations, délai de première réponse, engagement par réseau.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Automatisations e-mail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Ce qui continue de travailler quand personne n'est devant l'écran. L'automatisation des réseaux sociaux, elle, vit dans la Social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Réflexes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Accusé de réception automatique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Notification interne à chaque demande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Confirmation et rappel de rendez-vous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17918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Modèles d'emails aux couleurs de la marque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Séquences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0138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7882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Séquence de bienvenue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Relance des demandes restées sans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Demande d'avis après prestation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Segmentation des destinataires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50252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Mesure des ouvertures et des clics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Scénarios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0780" y="3209163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Scénarios déclenchés par le comportement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374611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780" y="373697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Relance des paniers ou devis abandonnés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4069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80" y="406031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Campagnes saisonnières programmées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43928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0780" y="438365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Tests A/B des objets et des contenus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471614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470699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Nettoyage et santé de la base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Statistiques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Des chiffres qui servent à décider, pas à décorer.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Rapport PDF automatisé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Mesure installée, conversions déclarées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Relevé de référence avant refonte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Instantané quotidien par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Rapport mensuel commenté en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50252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Visiteurs, positions, rendez-vous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350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82586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Trois recommandations par mois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0138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Tableau de bord 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343738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342823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Tableau de bord Power BI interactif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0138" y="376072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3751579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Actualisation quotidienne des données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138" y="408406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7882" y="4074920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Accès sur ordinateur et 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4407405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882" y="4398261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Entonnoir de la visite au rendez-vous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0138" y="4730746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7882" y="4721602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Attribution multicanale et appels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0138" y="505408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7882" y="504494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Indice de présence digitale ANVSLAB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0138" y="537742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7882" y="536828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Point mensuel commenté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3036" y="2670048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3036" y="2816352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3 — Power BI avancé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3036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0780" y="3209163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Cartes de chaleur et enregistrements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3036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0780" y="3532504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Analyse des points de friction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036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0780" y="385584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Tests A/B sur les pages clés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3036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0780" y="4179186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Prévisions de trafic et de rendez-vous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3036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0780" y="4502527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Détection automatique des anomalies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43036" y="48350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0780" y="482586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Revue stratégique trimestrielle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 tableau de bord Power BI est délivré à partir du niveau 2, donc en formules Équilibre et Intense. La formule Initial est servie par un rapport PDF automatisé. Périmètre : la performance de ce qu'ANVSLAB livre, sans connexion à votre comptabilité ni à votre caisse.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Publicité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Acheter de la visibilité pendant que le référencement naturel monte en puissance.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1 — Campagne ciblée  ·  300 € de budget alloué</a:t>
            </a:r>
          </a:p>
        </p:txBody>
      </p:sp>
      <p:pic>
        <p:nvPicPr>
          <p:cNvPr id="10" name="Picture 9" descr="goog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37382"/>
            <a:ext cx="210312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80314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79399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Budget de 300 € financé par ANVSLAB, sans avance de votre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2648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117339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Compte créé à votre nom, dont vous restez propriétaire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982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4440680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Plafond garanti, aucun dépassement 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5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4764021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Suivi du budget consommé et restant en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96506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5087362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Recherches à forte intention d'achat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1984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5410703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Optimisation hebdomadaire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4318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5734044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Coût par rendez-vous documenté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1587" y="2670048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1587" y="2816352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Niveau 2 — Acquisition multicanale  ·  700 € de budget alloué</a:t>
            </a:r>
          </a:p>
        </p:txBody>
      </p:sp>
      <p:pic>
        <p:nvPicPr>
          <p:cNvPr id="27" name="Picture 26" descr="goog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587" y="3437382"/>
            <a:ext cx="210312" cy="210312"/>
          </a:xfrm>
          <a:prstGeom prst="rect">
            <a:avLst/>
          </a:prstGeom>
        </p:spPr>
      </p:pic>
      <p:pic>
        <p:nvPicPr>
          <p:cNvPr id="28" name="Picture 27" descr="google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1" y="3437382"/>
            <a:ext cx="210312" cy="210312"/>
          </a:xfrm>
          <a:prstGeom prst="rect">
            <a:avLst/>
          </a:prstGeom>
        </p:spPr>
      </p:pic>
      <p:pic>
        <p:nvPicPr>
          <p:cNvPr id="29" name="Picture 28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955" y="3437382"/>
            <a:ext cx="210312" cy="210312"/>
          </a:xfrm>
          <a:prstGeom prst="rect">
            <a:avLst/>
          </a:prstGeom>
        </p:spPr>
      </p:pic>
      <p:pic>
        <p:nvPicPr>
          <p:cNvPr id="30" name="Picture 29" descr="inst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139" y="3437382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1587" y="380314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9331" y="379399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Budget publicitaire de 700 € alloué et financé par ANVSLAB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1587" y="412648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9331" y="4117339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Recherche, cartographie, reciblage, réseaux sociaux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1587" y="444982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9331" y="4440680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Segmentation par audience et par appareil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1587" y="4773165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9331" y="4764021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Page de destination dédiée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1587" y="5096506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9331" y="5087362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Tests A/B des annonces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1587" y="541984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9331" y="5410703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Comparaison du coût payant et organique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1587" y="574318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9331" y="5734044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Recommandation de poursuite chiffrée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 budget indiqué est alloué par ANVSLAB et inclus dans le prix de la formule : 300 € en formule Équilibre, 700 € en formule Intense. Il démontre par la mesure la capacité du site à transformer un visiteur en rendez-vous, sans attendre la montée du référencement naturel.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MODULE J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Support et accompagnement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Deux prestations distinctes, deux durées distinctes, incluses dans toutes les formules.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0048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Support technique — 12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09163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Surveillance de la disponibilité et alerte en cas d'interruption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32504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Sauvegardes automatiques et restauration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855845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Mises à jour de sécurité et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179186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Correction des anomalies constatées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502527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Assistance par email, première réponse sous 24 heures ouvrées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350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82586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Modifications mineures de contenu incluses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1587" y="2670048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1587" y="2816352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Accompagnement organique — 6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1587" y="3218307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9331" y="3209163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Suivi mensuel des positions et alerte en cas de perte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1587" y="3541648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9331" y="3532504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Enrichissement des contenus sous-performants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1587" y="386498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9331" y="3855845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Correction des problèmes techniques de référencement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418833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9331" y="4179186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Optimisation des pages qui génèrent des rendez-vous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451167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9331" y="4502527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Suivi des citations par les intelligences artificielles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1587" y="483501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9331" y="482586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Rapport mensuel et point avec un interlocuteur dédié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1587" y="515835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9331" y="5149209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Bilan complet au sixième mois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Au sixième mois, l'accompagnement organique prend fin. Le support technique se poursuit jusqu'au douzième mois. La poursuite de la progression relève ensuite de l'abonnement.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0" spc="-416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spc="-189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Les formules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Trois niveaux d'engagement, un périmètre écrit pour chacun.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FORMULES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Initial, Équilibre, Intense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411626" cy="4069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121408"/>
            <a:ext cx="28264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FORMULE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32304"/>
            <a:ext cx="28264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spc="-72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Initial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89504"/>
            <a:ext cx="28264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spc="-119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799 €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474720"/>
            <a:ext cx="28264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Pour exister correctement en ligne et commencer à être trouvé.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3950208"/>
            <a:ext cx="282641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07822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Identité et interface — niveau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24738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Site web — niveau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41655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Contenus et rédaction — niveau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585716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Référencement naturel — niveau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754880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Référencement génératif — niveau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2404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Social Suite™ — niveau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09320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Automatisations e-mail — niveau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26237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Statistiques — niveau 1 · rapport 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0034" y="1828800"/>
            <a:ext cx="3411626" cy="4069080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2642" y="2121408"/>
            <a:ext cx="28264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FF2D00"/>
                </a:solidFill>
                <a:latin typeface="Menlo"/>
                <a:cs typeface="Menlo"/>
                <a:ea typeface="Menlo"/>
              </a:rPr>
              <a:t>FORMULE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2642" y="2432304"/>
            <a:ext cx="28264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spc="-72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Équilibre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2642" y="2889504"/>
            <a:ext cx="28264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spc="-119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1 299 €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2642" y="3474720"/>
            <a:ext cx="28264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Pour transformer la visibilité acquise en rendez-vous mesurés.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2642" y="3950208"/>
            <a:ext cx="282641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2642" y="407822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Identité et interface — niveau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2642" y="424738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Site web — niveau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2642" y="441655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Contenus et rédaction — niveau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2642" y="4585716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Référencement naturel — niveau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2642" y="4754880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Référencement génératif — niveau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2642" y="492404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Social Suite™ — niveau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2642" y="509320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Automatisations e-mail — niveau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2642" y="526237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Statistiques — niveau 2 · Power 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2642" y="5431536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Publicité — niveau 1 · 300 € alloués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2828" y="1828800"/>
            <a:ext cx="3411626" cy="4069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5436" y="2121408"/>
            <a:ext cx="28264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FORMULE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5436" y="2432304"/>
            <a:ext cx="28264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spc="-72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Intense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5436" y="2889504"/>
            <a:ext cx="282641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spc="-119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2 999 €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5436" y="3474720"/>
            <a:ext cx="28264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Pour prendre la première place de votre marché et la tenir.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95436" y="3950208"/>
            <a:ext cx="282641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5436" y="407822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Identité et interface — niveau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5436" y="424738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Site web — niveau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5436" y="441655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Contenus et rédaction — niveau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5436" y="4585716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Référencement naturel — niveau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5436" y="4754880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Référencement génératif — niveau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5436" y="4924044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Social Suite™ — niveau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5436" y="5093208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Automatisations e-mail — niveau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5436" y="5262372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Statistiques — niveau 3 · Power 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5436" y="5431536"/>
            <a:ext cx="28264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Publicité — niveau 2 · 700 € alloués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Notre équipe recommande la formule la plus adaptée après analyse de votre site et de l'état actuel de son référencement. Prix hors taxes, réglés en une fois à la commande. Support technique 12 mois et accompagnement organique 6 mois inclus dans les trois formules.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FORMULES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Matrice des modules par 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14884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spc="95">
                <a:solidFill>
                  <a:srgbClr val="000000"/>
                </a:solidFill>
                <a:latin typeface="Menlo"/>
                <a:cs typeface="Menlo"/>
                <a:ea typeface="Menlo"/>
              </a:rPr>
              <a:t>INITIAL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7138" y="214884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spc="95">
                <a:solidFill>
                  <a:srgbClr val="000000"/>
                </a:solidFill>
                <a:latin typeface="Menlo"/>
                <a:cs typeface="Menlo"/>
                <a:ea typeface="Menlo"/>
              </a:rPr>
              <a:t>ÉQUILIBRE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0796" y="214884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spc="95">
                <a:solidFill>
                  <a:srgbClr val="000000"/>
                </a:solidFill>
                <a:latin typeface="Menlo"/>
                <a:cs typeface="Menlo"/>
                <a:ea typeface="Menlo"/>
              </a:rPr>
              <a:t>INTENSE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10637215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4261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Identité et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64261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7138" y="264261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0796" y="264261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4378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077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Site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90779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7138" y="290779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0796" y="290779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08960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729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Contenus et rédaction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17296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7138" y="317296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0796" y="317296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74136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43814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naturel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43814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7138" y="343814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0796" y="343814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639312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Référencement génératif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70332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7138" y="370332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0796" y="370332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904488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684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ANVSLAB Social Suite™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96849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7138" y="396849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0796" y="396849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16966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233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Automatisations e-mail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423367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7138" y="423367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423367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434840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49884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Statistiques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449884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N1 · 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27138" y="449884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N2 · Power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0796" y="4498848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N3 · Power 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4700016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7640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Publicité — budget alloué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76402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E0E0E0"/>
                </a:solidFill>
                <a:latin typeface="Helvetica Neue"/>
                <a:cs typeface="Helvetica Neue"/>
                <a:ea typeface="Helvetica Neue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7138" y="476402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300 €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0796" y="4764024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700 €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965192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0292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Support technique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502920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27138" y="502920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70796" y="5029200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5230368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294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Accompagnement organique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529437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6 mois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27138" y="529437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6 mois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70796" y="5294376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6 mois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549554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5595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Social Suite™ — accès inclus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83480" y="555955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27138" y="555955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70796" y="5559552"/>
            <a:ext cx="21436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spc="21">
                <a:solidFill>
                  <a:srgbClr val="696969"/>
                </a:solidFill>
                <a:latin typeface="Menlo"/>
                <a:cs typeface="Menlo"/>
                <a:ea typeface="Menlo"/>
              </a:rPr>
              <a:t>12 mois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" y="5760720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Les niveaux sont cumulatifs. Un point signale une prestation non incluse dans la formule.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FORMULES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Au-delà du sixième mois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L'accompagnement organique s'arrête. Le référencement, lui, ne s'arrête pas : vos concurrents continuent d'avancer. La poursuite est volontaire et se choisit à ce moment-là.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3411626" cy="2788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309981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100 € PAR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48386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Maintien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4270248"/>
            <a:ext cx="278983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Support technique prolongé, positions acquises surveillées, corrections techniques, modifications de contenu, rapport mensuel.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0034" y="2788920"/>
            <a:ext cx="3411626" cy="2788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930" y="309981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250 € PAR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930" y="348386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Croissance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4270248"/>
            <a:ext cx="278983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Tout le niveau Maintien, plus deux contenus optimisés par mois, conquête de nouveaux mots-clés, tableau de bord maintenu, point mensuel.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2828" y="2788920"/>
            <a:ext cx="3411626" cy="2788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3099816"/>
            <a:ext cx="27898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696969"/>
                </a:solidFill>
                <a:latin typeface="Menlo"/>
                <a:cs typeface="Menlo"/>
                <a:ea typeface="Menlo"/>
              </a:rPr>
              <a:t>500 € PAR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3483864"/>
            <a:ext cx="278983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spc="-57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724" y="4270248"/>
            <a:ext cx="278983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Tout le niveau Croissance, plus quatre contenus par mois, tests A/B, analyse comportementale, extension à de nouvelles zones, interlocuteur dédié.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Sans engagement de durée. Résiliable à tout moment avec un préavis d'un mois. Aucun abonnement n'est prélevé sans souscription explicite de votre part.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0" spc="-416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10128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spc="-189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Les 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9A9A9A"/>
                </a:solidFill>
                <a:latin typeface="Helvetica Neue"/>
                <a:cs typeface="Helvetica Neue"/>
                <a:ea typeface="Helvetica Neue"/>
              </a:rPr>
              <a:t>Ce que nous garantissons, ce que nous ne garantissons pas, et ce qui vous revient.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24528"/>
            <a:ext cx="2011680" cy="254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ENGAGEMENTS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que nous garantissons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engagement écrit vaut mieux qu'une promesse commerciale.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Nous nous engageons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573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36595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livraison de chaque prestation décrite dans ce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908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559936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respect du calendrier validé, sauf attente de vos retours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9242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883277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performance technique du site mesurée par des outils publics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1576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206618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transparence complète des chiffres, y compris défavorables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3910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529959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propriété pleine et entière du site et des contenus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2444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853300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confidentialité des informations que vous nous confiez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1587" y="2697480"/>
            <a:ext cx="5112867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1587" y="284378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Nous ne nous engageons pas sur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1587" y="324573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9331" y="3236595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Une position précise dans les résultats de recherche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1587" y="356908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9331" y="3559936"/>
            <a:ext cx="4875123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nombre garanti de visiteurs ou de rendez-vous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1587" y="389242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9331" y="3883277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comportement des moteurs, qui modifient leurs règles sans préavis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1587" y="442023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9331" y="4411088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transformation d'un rendez-vous en client, qui relève de votre commerce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494804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9331" y="4938899"/>
            <a:ext cx="4875123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délais imputables à des tiers : hébergeur, plateformes, fournisseurs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989320"/>
            <a:ext cx="92656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144768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Notre promesse porte sur un indicateur unique et vérifiable : le taux de visiteurs qui prennent rendez-vous. Il est mesuré avant, pendant et après la mission.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ENGAGEMENTS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qui relève de 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Une mission réussie suppose une contrepartie. Elle est courte, mais elle est indispensable.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Au démarrage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Un interlocuteur unique désigné et joignable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accès aux comptes existants : domaine, hébergement, réseaux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43379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informations légales de l'entreprise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748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486574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visuels et documents dont vous détenez les droits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0138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0138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Pendant la 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0138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7882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Vos retours sous cinq jours ouvrés à chaque étape de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82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validation écrite avant chaque mise en ligne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0138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7882" y="43379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signalement rapide de toute erreur constatée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3036" y="27432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3036" y="28895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Après la 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036" y="32914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0780" y="32823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traitement des demandes reçues via le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3036" y="38192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0780" y="38101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La transmission des évolutions de votre activité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3036" y="43470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0780" y="43379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respect des règles d'usage des plateformes tierces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48748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780" y="486574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règlement des abonnements tiers au-delà de la période incluse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LES ENGAGEMENTS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spc="-126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Propriété, données et réversibilité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02">
                <a:solidFill>
                  <a:srgbClr val="9A9A9A"/>
                </a:solidFill>
                <a:latin typeface="Menlo"/>
                <a:cs typeface="Menlo"/>
                <a:ea typeface="Menlo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609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Ce qui vous appartient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28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053715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code source du site, livré sans restriction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9067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58152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L'intégralité des contenus rédigés et des visuels produits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848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10933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 nom de domaine, enregistré à votre nom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4629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463714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comptes publicitaires et analytiques, à votre 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7410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5164959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Les données collectées par le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0138" y="25146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0138" y="26609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Réversibilité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0138" y="30628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7882" y="305371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Export complet livré sur simple demande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0138" y="33862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7882" y="337705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Aucune dépendance technique à ANVSLAB pour continuer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0138" y="39140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7882" y="390486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Documentation de l'installation transmise à la livraison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0138" y="444182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7882" y="4432678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Transfert accompagné vers un autre prestataire si vous le décidez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3036" y="2514600"/>
            <a:ext cx="3271418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3036" y="2660904"/>
            <a:ext cx="32714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spc="-30">
                <a:solidFill>
                  <a:srgbClr val="000000"/>
                </a:solidFill>
                <a:latin typeface="Helvetica Neue"/>
                <a:cs typeface="Helvetica Neue"/>
                <a:ea typeface="Helvetica Neue"/>
              </a:rPr>
              <a:t>Données personnelles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3036" y="3062859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0780" y="3053715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Traitement conforme au RGPD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3036" y="3386200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0780" y="3377056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Consentement recueilli avant tout dépôt de traceur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3036" y="3914011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780" y="3904867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Aucune revente ni exploitation à d'autres fins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3036" y="4441822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0780" y="4432678"/>
            <a:ext cx="3033674" cy="2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Sous-traitants documentés et localisés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3036" y="4765163"/>
            <a:ext cx="164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2D00"/>
                </a:solidFill>
                <a:latin typeface="Helvetica Neue"/>
                <a:cs typeface="Helvetica Neue"/>
                <a:ea typeface="Helvetica Neue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0780" y="4756019"/>
            <a:ext cx="3033674" cy="463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696969"/>
                </a:solidFill>
                <a:latin typeface="Helvetica Neue"/>
                <a:cs typeface="Helvetica Neue"/>
                <a:ea typeface="Helvetica Neue"/>
              </a:rPr>
              <a:t>Suppression sur demande dans les délais légaux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">
        <p:fade/>
      </p:transition>
    </mc:Choice>
    <mc:Fallback>
      <p:transition spd="slow">
        <p:fade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2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02">
                <a:solidFill>
                  <a:srgbClr val="FFC6B8"/>
                </a:solidFill>
                <a:latin typeface="Menlo"/>
                <a:cs typeface="Menlo"/>
                <a:ea typeface="Menlo"/>
              </a:rPr>
              <a:t>PROCHAINE ÉTAPE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77824"/>
            <a:ext cx="10637215" cy="9525"/>
          </a:xfrm>
          <a:prstGeom prst="rect">
            <a:avLst/>
          </a:prstGeom>
          <a:solidFill>
            <a:srgbClr val="FF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0" spc="-154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Un appel de trente minutes,</a:t>
            </a:r>
          </a:p>
          <a:p>
            <a:pPr algn="l">
              <a:lnSpc>
                <a:spcPct val="112000"/>
              </a:lnSpc>
            </a:pPr>
            <a:r>
              <a:rPr sz="4400" b="0" spc="-154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sans engagement,</a:t>
            </a:r>
          </a:p>
          <a:p>
            <a:pPr algn="l">
              <a:lnSpc>
                <a:spcPct val="112000"/>
              </a:lnSpc>
            </a:pPr>
            <a:r>
              <a:rPr sz="4400" b="0" spc="-154">
                <a:solidFill>
                  <a:srgbClr val="FFFFFF"/>
                </a:solidFill>
                <a:latin typeface="Helvetica Neue"/>
                <a:cs typeface="Helvetica Neue"/>
                <a:ea typeface="Helvetica Neue"/>
              </a:rPr>
              <a:t>et une recommandation écrite.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FFE2DA"/>
                </a:solidFill>
                <a:latin typeface="Helvetica Neue"/>
                <a:cs typeface="Helvetica Neue"/>
                <a:ea typeface="Helvetica Neue"/>
              </a:rPr>
              <a:t>Nous analysons votre site et l'état actuel de son référencement, puis nous vous indiquons la formule adaptée — y compris s'il s'agit de la plus modeste.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833872"/>
            <a:ext cx="10637215" cy="9525"/>
          </a:xfrm>
          <a:prstGeom prst="rect">
            <a:avLst/>
          </a:prstGeom>
          <a:solidFill>
            <a:srgbClr val="FF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08">
                <a:solidFill>
                  <a:srgbClr val="FFFFFF"/>
                </a:solidFill>
                <a:latin typeface="Menlo"/>
                <a:cs typeface="Menlo"/>
                <a:ea typeface="Menlo"/>
              </a:rPr>
              <a:t>ANVSLAB.COM/RENDEZ-VOUS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9575" y="603504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spc="108">
                <a:solidFill>
                  <a:srgbClr val="FFC6B8"/>
                </a:solidFill>
                <a:latin typeface="Menlo"/>
                <a:cs typeface="Menlo"/>
                <a:ea typeface="Menlo"/>
              </a:rPr>
              <a:t>ANVSLAB  ·  CASABLANCA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push dir="u"/>
      </p:transition>
    </mc:Choice>
    <mc:Fallback>
      <p:transition spd="slow">
        <p:push dir="u"/>
      </p:transition>
    </mc:Fallback>
  </mc:AlternateContent>
  <p:timing xmlns:mc="http://schemas.openxmlformats.org/markup-compatibility/2006"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0001" fill="hold">
                      <p:stCondLst>
                        <p:cond delay="0"/>
                      </p:stCondLst>
                      <p:childTnLst>
                        <p:par>
                          <p:cTn id="90000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6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